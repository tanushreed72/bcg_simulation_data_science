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274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0" y="74980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E6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CONSULTING GROUP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PowerCo · SME Division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Churn Prediction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6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Abstract — Steering Committee Update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3429000"/>
            <a:ext cx="8229600" cy="0"/>
          </a:xfrm>
          <a:prstGeom prst="line">
            <a:avLst/>
          </a:prstGeom>
          <a:noFill/>
          <a:ln w="19050">
            <a:solidFill>
              <a:srgbClr val="C8A9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5844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Track  |  </a:t>
            </a:r>
            <a:pPr indent="0" marL="0">
              <a:buNone/>
            </a:pPr>
            <a:r>
              <a:rPr lang="en-US" sz="1100" dirty="0">
                <a:solidFill>
                  <a:srgbClr val="E6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· Feature Engineering · Random Forest Modelling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64465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and steering committee review only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3D2B"/>
          </a:solidFill>
          <a:ln w="12700">
            <a:solidFill>
              <a:srgbClr val="00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 |  Churn Prediction: Key Findings &amp; Recommendations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961120" y="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6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PowerCo · SME Division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394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1261872"/>
          </a:xfrm>
          <a:prstGeom prst="rect">
            <a:avLst/>
          </a:prstGeom>
          <a:solidFill>
            <a:srgbClr val="003D2B"/>
          </a:solidFill>
          <a:ln w="12700">
            <a:solidFill>
              <a:srgbClr val="003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5156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0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38912" y="1307592"/>
            <a:ext cx="5138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PowerCo is experiencing elevated churn in its SME electricity portfolio. The Head of the SME Division hypothesised that </a:t>
            </a:r>
            <a:pPr indent="0" marL="0">
              <a:buNone/>
            </a:pPr>
            <a:r>
              <a:rPr lang="en-US" sz="115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sensitivity</a:t>
            </a:r>
            <a:pPr indent="0" marL="0">
              <a:buNone/>
            </a:pPr>
            <a:r>
              <a:rPr lang="en-US" sz="1150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primary driver — i.e. customers are leaving due to cheaper offers from competitors.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404872"/>
            <a:ext cx="5394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404872"/>
            <a:ext cx="54864" cy="1261872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49631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FINDING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8912" y="2752344"/>
            <a:ext cx="5138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14,606 customers across historical usage, contract, and pricing data reveals the overall churn rate is </a:t>
            </a:r>
            <a:pPr indent="0" marL="0">
              <a:buNone/>
            </a:pPr>
            <a:r>
              <a:rPr lang="en-US" sz="115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9.7%</a:t>
            </a:r>
            <a:pPr indent="0" marL="0">
              <a:buNone/>
            </a:pPr>
            <a:r>
              <a:rPr lang="en-US" sz="1150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Churn is driven most strongly by </a:t>
            </a:r>
            <a:pPr indent="0" marL="0">
              <a:buNone/>
            </a:pPr>
            <a:r>
              <a:rPr lang="en-US" sz="115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margin, electricity consumption, and customer tenure</a:t>
            </a:r>
            <a:pPr indent="0" marL="0">
              <a:buNone/>
            </a:pPr>
            <a:r>
              <a:rPr lang="en-US" sz="1150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by price sensitivity alone.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849624"/>
            <a:ext cx="5394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849624"/>
            <a:ext cx="54864" cy="126187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941064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SENSITIVITY INSIGHT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38912" y="4197096"/>
            <a:ext cx="5138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price-gap features (off-peak vs. peak differential) appeared in the model's top 15 predictors but ranked below margin and consumption variables. Price sensitivity </a:t>
            </a:r>
            <a:pPr indent="0" marL="0">
              <a:buNone/>
            </a:pPr>
            <a:r>
              <a:rPr lang="en-US" sz="115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contribute</a:t>
            </a:r>
            <a:pPr indent="0" marL="0">
              <a:buNone/>
            </a:pPr>
            <a:r>
              <a:rPr lang="en-US" sz="1150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churn — it is not the sole cause.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960120"/>
            <a:ext cx="5806440" cy="1005840"/>
          </a:xfrm>
          <a:prstGeom prst="rect">
            <a:avLst/>
          </a:prstGeom>
          <a:solidFill>
            <a:srgbClr val="003D2B"/>
          </a:solidFill>
          <a:ln w="12700">
            <a:solidFill>
              <a:srgbClr val="003D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63640" y="9601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9.7%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321040" y="1033272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SME Churn Rate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1,419 of 14,606 customers lost across the observed period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103120"/>
            <a:ext cx="5806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2103120"/>
            <a:ext cx="54864" cy="1463040"/>
          </a:xfrm>
          <a:prstGeom prst="rect">
            <a:avLst/>
          </a:prstGeom>
          <a:solidFill>
            <a:srgbClr val="005C40"/>
          </a:solidFill>
          <a:ln w="12700">
            <a:solidFill>
              <a:srgbClr val="005C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2176272"/>
            <a:ext cx="5550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 (Random Forest · 1,000 trees · 75/25 split)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99632" y="2514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90.3%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05472" y="2514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 — class imbalance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988552" y="2514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94392" y="2514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false positives raised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99632" y="29718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2.7%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05472" y="2971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 — 356/366 missed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988552" y="29718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0.663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994392" y="2971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discriminatory power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35040" y="3749040"/>
            <a:ext cx="5806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3749040"/>
            <a:ext cx="54864" cy="196596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3822192"/>
            <a:ext cx="5550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99632" y="4178808"/>
            <a:ext cx="256032" cy="256032"/>
          </a:xfrm>
          <a:prstGeom prst="ellipse">
            <a:avLst/>
          </a:prstGeom>
          <a:solidFill>
            <a:srgbClr val="003D2B"/>
          </a:solidFill>
          <a:ln w="12700">
            <a:solidFill>
              <a:srgbClr val="003D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9632" y="4178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565392" y="4160520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class imbalance — apply balanced class weighting or SMOTE oversampling to improve recall from 2.7% to a commercially viable level.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99632" y="4562856"/>
            <a:ext cx="256032" cy="256032"/>
          </a:xfrm>
          <a:prstGeom prst="ellipse">
            <a:avLst/>
          </a:prstGeom>
          <a:solidFill>
            <a:srgbClr val="003D2B"/>
          </a:solidFill>
          <a:ln w="12700">
            <a:solidFill>
              <a:srgbClr val="003D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9632" y="4562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565392" y="4544568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customers with low power margin, high consumption variability, and short tenure for targeted retention campaigns.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99632" y="4946904"/>
            <a:ext cx="256032" cy="256032"/>
          </a:xfrm>
          <a:prstGeom prst="ellipse">
            <a:avLst/>
          </a:prstGeom>
          <a:solidFill>
            <a:srgbClr val="003D2B"/>
          </a:solidFill>
          <a:ln w="12700">
            <a:solidFill>
              <a:srgbClr val="003D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4946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565392" y="4928616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score-based intervention: offer targeted discounts to customers with churn probability above a tuned threshold (recommended: 20–30%).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99632" y="5330952"/>
            <a:ext cx="256032" cy="256032"/>
          </a:xfrm>
          <a:prstGeom prst="ellipse">
            <a:avLst/>
          </a:prstGeom>
          <a:solidFill>
            <a:srgbClr val="003D2B"/>
          </a:solidFill>
          <a:ln w="12700">
            <a:solidFill>
              <a:srgbClr val="003D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99632" y="5330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565392" y="5312664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A/B test to measure financial impact of the discount offer — compare retention rate and net margin uplift vs. control group.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5294376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5294376"/>
            <a:ext cx="54864" cy="1965960"/>
          </a:xfrm>
          <a:prstGeom prst="rect">
            <a:avLst/>
          </a:prstGeom>
          <a:solidFill>
            <a:srgbClr val="005C40"/>
          </a:solidFill>
          <a:ln w="12700">
            <a:solidFill>
              <a:srgbClr val="005C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" y="538581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38912" y="5641848"/>
            <a:ext cx="51389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improved model flags </a:t>
            </a:r>
            <a:pPr indent="0" marL="0">
              <a:buNone/>
            </a:pPr>
            <a:r>
              <a:rPr lang="en-US" sz="115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at-risk customers</a:t>
            </a:r>
            <a:pPr indent="0" marL="0">
              <a:buNone/>
            </a:pPr>
            <a:r>
              <a:rPr lang="en-US" sz="1150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discounts retain </a:t>
            </a:r>
            <a:pPr indent="0" marL="0">
              <a:buNone/>
            </a:pPr>
            <a:r>
              <a:rPr lang="en-US" sz="115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those</a:t>
            </a:r>
            <a:pPr indent="0" marL="0">
              <a:buNone/>
            </a:pPr>
            <a:r>
              <a:rPr lang="en-US" sz="1150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PowerCo retains ~213 additional SME customers per period — a material bottom-line gain with further upside from lower customer acquisition costs.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03D2B"/>
          </a:solidFill>
          <a:ln w="12700">
            <a:solidFill>
              <a:srgbClr val="003D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66019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BCG Data Science  |  PowerCo SME Churn Project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0972800" y="66019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6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PowerCo Churn Analysis – Executive Abstract</dc:title>
  <dc:subject>PptxGenJS Presentation</dc:subject>
  <dc:creator>BCG Data Science</dc:creator>
  <cp:lastModifiedBy>BCG Data Science</cp:lastModifiedBy>
  <cp:revision>1</cp:revision>
  <dcterms:created xsi:type="dcterms:W3CDTF">2026-05-01T20:47:15Z</dcterms:created>
  <dcterms:modified xsi:type="dcterms:W3CDTF">2026-05-01T20:47:15Z</dcterms:modified>
</cp:coreProperties>
</file>